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71" r:id="rId2"/>
    <p:sldId id="272" r:id="rId3"/>
    <p:sldId id="275" r:id="rId4"/>
    <p:sldId id="256" r:id="rId5"/>
    <p:sldId id="27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6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7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2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4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4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1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0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8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1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35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0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5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8894-6EFD-4386-BA7F-8CF26F17D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Project Management for Software Development</a:t>
            </a:r>
            <a:endParaRPr lang="en-CA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6160F-7065-4E2F-B2F4-B5DFE0181D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By Sadeed</a:t>
            </a:r>
          </a:p>
        </p:txBody>
      </p:sp>
    </p:spTree>
    <p:extLst>
      <p:ext uri="{BB962C8B-B14F-4D97-AF65-F5344CB8AC3E}">
        <p14:creationId xmlns:p14="http://schemas.microsoft.com/office/powerpoint/2010/main" val="64443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DAF2-111C-432F-9EF1-AC5AF38E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093F-605C-476E-A11B-2271873A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Name (and preferred name/nickname, if any)</a:t>
            </a:r>
          </a:p>
          <a:p>
            <a:r>
              <a:rPr lang="en-CA" dirty="0"/>
              <a:t>Current City / Location</a:t>
            </a:r>
            <a:endParaRPr lang="en-US" dirty="0"/>
          </a:p>
          <a:p>
            <a:r>
              <a:rPr lang="en-CA" dirty="0"/>
              <a:t>Previous Professional Experience</a:t>
            </a:r>
            <a:endParaRPr lang="en-US" dirty="0"/>
          </a:p>
          <a:p>
            <a:r>
              <a:rPr lang="en-CA" dirty="0"/>
              <a:t>IT / Technical Background</a:t>
            </a:r>
            <a:endParaRPr lang="en-US" dirty="0"/>
          </a:p>
          <a:p>
            <a:r>
              <a:rPr lang="en-US" dirty="0"/>
              <a:t>Why you chose this program</a:t>
            </a:r>
          </a:p>
          <a:p>
            <a:r>
              <a:rPr lang="en-CA" dirty="0"/>
              <a:t>Why you picked CBC</a:t>
            </a:r>
            <a:endParaRPr lang="en-US" dirty="0"/>
          </a:p>
          <a:p>
            <a:r>
              <a:rPr lang="en-CA" dirty="0"/>
              <a:t>Career Goals</a:t>
            </a:r>
          </a:p>
          <a:p>
            <a:r>
              <a:rPr lang="en-CA" dirty="0"/>
              <a:t>Technical Interests</a:t>
            </a:r>
          </a:p>
          <a:p>
            <a:r>
              <a:rPr lang="en-CA" dirty="0"/>
              <a:t>Learning Expectations</a:t>
            </a:r>
          </a:p>
          <a:p>
            <a:r>
              <a:rPr lang="en-US" dirty="0"/>
              <a:t>Fun Fact about yourself</a:t>
            </a:r>
          </a:p>
          <a:p>
            <a:r>
              <a:rPr lang="en-US" dirty="0"/>
              <a:t>Hobbies or Interests outside of work/study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8797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5FD1ED-CEB2-4223-A6D2-62072A093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4470"/>
              </p:ext>
            </p:extLst>
          </p:nvPr>
        </p:nvGraphicFramePr>
        <p:xfrm>
          <a:off x="2293969" y="4188484"/>
          <a:ext cx="4743633" cy="232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43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195">
                <a:tc>
                  <a:txBody>
                    <a:bodyPr/>
                    <a:lstStyle/>
                    <a:p>
                      <a:pPr algn="l" fontAlgn="b"/>
                      <a:r>
                        <a:rPr lang="en-CA" sz="1700" b="1" u="none" strike="noStrike" dirty="0">
                          <a:effectLst/>
                        </a:rPr>
                        <a:t>Tips for Success:</a:t>
                      </a:r>
                      <a:endParaRPr lang="en-CA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8" marR="2678" marT="268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31">
                <a:tc>
                  <a:txBody>
                    <a:bodyPr/>
                    <a:lstStyle/>
                    <a:p>
                      <a:pPr algn="l" fontAlgn="ctr"/>
                      <a:r>
                        <a:rPr lang="en-CA" sz="800" u="none" strike="noStrike">
                          <a:effectLst/>
                        </a:rPr>
                        <a:t> </a:t>
                      </a:r>
                      <a:endParaRPr lang="en-CA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Stay engaged and participate actively.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41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u="none" strike="noStrike" dirty="0">
                          <a:effectLst/>
                        </a:rPr>
                        <a:t> </a:t>
                      </a:r>
                      <a:endParaRPr lang="en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Complete all quizzes and assignments on time.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1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u="none" strike="noStrike">
                          <a:effectLst/>
                        </a:rPr>
                        <a:t> 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39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Collaborate with classmates and seek help when needed.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941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u="none" strike="noStrike">
                          <a:effectLst/>
                        </a:rPr>
                        <a:t> </a:t>
                      </a:r>
                      <a:endParaRPr lang="en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4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Apply theoretical knowledge through projects, code challenges and case studies.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85" marR="2678" marT="268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9B7956-D840-4CDD-AE59-66DD45454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15106"/>
              </p:ext>
            </p:extLst>
          </p:nvPr>
        </p:nvGraphicFramePr>
        <p:xfrm>
          <a:off x="1252462" y="578686"/>
          <a:ext cx="6608286" cy="3362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762">
                  <a:extLst>
                    <a:ext uri="{9D8B030D-6E8A-4147-A177-3AD203B41FA5}">
                      <a16:colId xmlns:a16="http://schemas.microsoft.com/office/drawing/2014/main" val="3542089993"/>
                    </a:ext>
                  </a:extLst>
                </a:gridCol>
                <a:gridCol w="1031932">
                  <a:extLst>
                    <a:ext uri="{9D8B030D-6E8A-4147-A177-3AD203B41FA5}">
                      <a16:colId xmlns:a16="http://schemas.microsoft.com/office/drawing/2014/main" val="2484170369"/>
                    </a:ext>
                  </a:extLst>
                </a:gridCol>
                <a:gridCol w="4296592">
                  <a:extLst>
                    <a:ext uri="{9D8B030D-6E8A-4147-A177-3AD203B41FA5}">
                      <a16:colId xmlns:a16="http://schemas.microsoft.com/office/drawing/2014/main" val="2126498042"/>
                    </a:ext>
                  </a:extLst>
                </a:gridCol>
              </a:tblGrid>
              <a:tr h="336043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700" b="1" u="none" strike="noStrike" dirty="0">
                          <a:effectLst/>
                        </a:rPr>
                        <a:t>Category</a:t>
                      </a:r>
                      <a:endParaRPr lang="en-CA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700" b="1" u="none" strike="noStrike" dirty="0">
                          <a:effectLst/>
                        </a:rPr>
                        <a:t>Weight</a:t>
                      </a:r>
                      <a:endParaRPr lang="en-CA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700" b="1" u="none" strike="noStrike" dirty="0">
                          <a:effectLst/>
                        </a:rPr>
                        <a:t>Details</a:t>
                      </a:r>
                      <a:endParaRPr lang="en-CA" sz="17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extLst>
                  <a:ext uri="{0D108BD9-81ED-4DB2-BD59-A6C34878D82A}">
                    <a16:rowId xmlns:a16="http://schemas.microsoft.com/office/drawing/2014/main" val="2518332225"/>
                  </a:ext>
                </a:extLst>
              </a:tr>
              <a:tr h="1099079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u="none" strike="noStrike" dirty="0">
                          <a:effectLst/>
                        </a:rPr>
                        <a:t>Class Participation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effectLst/>
                        </a:rPr>
                        <a:t>50%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Attendance,</a:t>
                      </a:r>
                      <a:r>
                        <a:rPr lang="en-US" sz="1400" u="none" strike="noStrike" dirty="0">
                          <a:effectLst/>
                        </a:rPr>
                        <a:t> class activities, active participation, providing feedback, helping peers, sharing useful content, engaging in discussions, and contributing to group work.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extLst>
                  <a:ext uri="{0D108BD9-81ED-4DB2-BD59-A6C34878D82A}">
                    <a16:rowId xmlns:a16="http://schemas.microsoft.com/office/drawing/2014/main" val="1443551078"/>
                  </a:ext>
                </a:extLst>
              </a:tr>
              <a:tr h="55125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u="none" strike="noStrike">
                          <a:effectLst/>
                        </a:rPr>
                        <a:t>Quizzes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effectLst/>
                        </a:rPr>
                        <a:t>10%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Multiple-choice quizzes (MCS), short-answer questions, and real-world problem scenarios.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extLst>
                  <a:ext uri="{0D108BD9-81ED-4DB2-BD59-A6C34878D82A}">
                    <a16:rowId xmlns:a16="http://schemas.microsoft.com/office/drawing/2014/main" val="4201544986"/>
                  </a:ext>
                </a:extLst>
              </a:tr>
              <a:tr h="82516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u="none" strike="noStrike">
                          <a:effectLst/>
                        </a:rPr>
                        <a:t>Assignments</a:t>
                      </a:r>
                      <a:endParaRPr lang="en-CA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effectLst/>
                        </a:rPr>
                        <a:t>2</a:t>
                      </a:r>
                      <a:r>
                        <a:rPr lang="en-CA" sz="1400" u="none" strike="noStrike">
                          <a:effectLst/>
                        </a:rPr>
                        <a:t>0</a:t>
                      </a:r>
                      <a:r>
                        <a:rPr lang="en-CA" sz="1400" u="none" strike="noStrike" dirty="0">
                          <a:effectLst/>
                        </a:rPr>
                        <a:t>%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Reading assignments, hands-on activities, projects, problem-solving exercises, coding challenges, and case-based learning.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extLst>
                  <a:ext uri="{0D108BD9-81ED-4DB2-BD59-A6C34878D82A}">
                    <a16:rowId xmlns:a16="http://schemas.microsoft.com/office/drawing/2014/main" val="1742458298"/>
                  </a:ext>
                </a:extLst>
              </a:tr>
              <a:tr h="551258">
                <a:tc>
                  <a:txBody>
                    <a:bodyPr/>
                    <a:lstStyle/>
                    <a:p>
                      <a:pPr algn="l" fontAlgn="ctr"/>
                      <a:r>
                        <a:rPr lang="en-CA" sz="1400" b="1" u="none" strike="noStrike" dirty="0">
                          <a:effectLst/>
                        </a:rPr>
                        <a:t>Final Exam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CA" sz="1400" u="none" strike="noStrike" dirty="0">
                          <a:effectLst/>
                        </a:rPr>
                        <a:t>20%</a:t>
                      </a:r>
                      <a:endParaRPr lang="en-CA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Comprehensive final project or case study, applying concepts learned throughout the course.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79" marR="2679" marT="2678" marB="0" anchor="ctr"/>
                </a:tc>
                <a:extLst>
                  <a:ext uri="{0D108BD9-81ED-4DB2-BD59-A6C34878D82A}">
                    <a16:rowId xmlns:a16="http://schemas.microsoft.com/office/drawing/2014/main" val="3802001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47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Course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systems are built</a:t>
            </a:r>
          </a:p>
          <a:p>
            <a:r>
              <a:t>How software is developed</a:t>
            </a:r>
          </a:p>
          <a:p>
            <a:r>
              <a:t>How projects are managed</a:t>
            </a:r>
          </a:p>
          <a:p>
            <a:endParaRPr/>
          </a:p>
          <a:p>
            <a:r>
              <a:t>Learn more: https://www.atlassian.com/software-development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4ED8-DEE8-4EF5-88F1-08095D47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Big Picture</a:t>
            </a:r>
          </a:p>
        </p:txBody>
      </p:sp>
    </p:spTree>
    <p:extLst>
      <p:ext uri="{BB962C8B-B14F-4D97-AF65-F5344CB8AC3E}">
        <p14:creationId xmlns:p14="http://schemas.microsoft.com/office/powerpoint/2010/main" val="151019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Routers, Switches, Firewalls, VPN</a:t>
            </a:r>
          </a:p>
          <a:p>
            <a:r>
              <a:t>Servers (Web, DB, FTP)</a:t>
            </a:r>
          </a:p>
          <a:p>
            <a:endParaRPr/>
          </a:p>
          <a:p>
            <a:r>
              <a:t>https://developer.mozilla.org/en-US/docs/Learn/Server-side/First_steps/Client-Server_overview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Infrastructure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</a:t>
            </a:r>
          </a:p>
          <a:p>
            <a:r>
              <a:t>Connectivity</a:t>
            </a:r>
          </a:p>
          <a:p>
            <a:r>
              <a:t>Data movement</a:t>
            </a:r>
          </a:p>
          <a:p>
            <a:endParaRPr/>
          </a:p>
          <a:p>
            <a:r>
              <a:t>https://www.cloudflare.com/learning/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app + one database</a:t>
            </a:r>
          </a:p>
          <a:p>
            <a:r>
              <a:t>Pros: Simple</a:t>
            </a:r>
          </a:p>
          <a:p>
            <a:r>
              <a:t>Cons: Single point of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across locations</a:t>
            </a:r>
          </a:p>
          <a:p>
            <a:r>
              <a:t>Pros: Scalable</a:t>
            </a:r>
          </a:p>
          <a:p>
            <a:r>
              <a:t>Cons: Complex</a:t>
            </a:r>
          </a:p>
          <a:p>
            <a:endParaRPr/>
          </a:p>
          <a:p>
            <a:r>
              <a:t>https://www.ibm.com/topics/distributed-database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systems on one machine</a:t>
            </a:r>
          </a:p>
          <a:p>
            <a:endParaRPr/>
          </a:p>
          <a:p>
            <a:r>
              <a:t>https://www.redhat.com/en/topics/virtualization/what-is-a-virtual-machine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environments</a:t>
            </a:r>
          </a:p>
          <a:p>
            <a:r>
              <a:t>Fast deployment</a:t>
            </a:r>
          </a:p>
          <a:p>
            <a:endParaRPr/>
          </a:p>
          <a:p>
            <a:r>
              <a:t>https://www.redhat.com/en/topics/containers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Pay-as-you-go infrastructure</a:t>
            </a:r>
          </a:p>
          <a:p>
            <a:endParaRPr/>
          </a:p>
          <a:p>
            <a:r>
              <a:t>https://azure.microsoft.com/en-us/resources/cloud-computing-dictionary/what-is-cloud-computing/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 → Design → Build → Test → Release → Improve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everything first</a:t>
            </a:r>
          </a:p>
          <a:p>
            <a:r>
              <a:t>Best for stable systems</a:t>
            </a:r>
          </a:p>
          <a:p>
            <a:endParaRPr/>
          </a:p>
          <a:p>
            <a:r>
              <a:t>https://www.ibm.com/topics/waterfall-model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in steps</a:t>
            </a:r>
          </a:p>
          <a:p>
            <a:r>
              <a:t>Adapt continuously</a:t>
            </a:r>
          </a:p>
          <a:p>
            <a:endParaRPr/>
          </a:p>
          <a:p>
            <a:r>
              <a:t>https://www.atlassian.com/agile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vs Agile</a:t>
            </a:r>
          </a:p>
          <a:p>
            <a:r>
              <a:t>Planning vs Flexibility vs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Asana (simple)</a:t>
            </a:r>
          </a:p>
          <a:p>
            <a:r>
              <a:t>Jira (developer workflows)</a:t>
            </a:r>
          </a:p>
          <a:p>
            <a:endParaRPr/>
          </a:p>
          <a:p>
            <a:r>
              <a:t>https://asana.com</a:t>
            </a:r>
          </a:p>
          <a:p>
            <a:r>
              <a:t>https://www.atlassian.com/software/jira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35</TotalTime>
  <Words>457</Words>
  <Application>Microsoft Office PowerPoint</Application>
  <PresentationFormat>On-screen Show (4:3)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Consolas</vt:lpstr>
      <vt:lpstr>Rockwell</vt:lpstr>
      <vt:lpstr>Wingdings</vt:lpstr>
      <vt:lpstr>Atlas</vt:lpstr>
      <vt:lpstr>Project Management for Software Development</vt:lpstr>
      <vt:lpstr>Introduction</vt:lpstr>
      <vt:lpstr>PowerPoint Presentation</vt:lpstr>
      <vt:lpstr>Course Purpose</vt:lpstr>
      <vt:lpstr>Big Picture</vt:lpstr>
      <vt:lpstr>IT Infrastructure</vt:lpstr>
      <vt:lpstr>Why Infrastructure Matters</vt:lpstr>
      <vt:lpstr>Centralized Systems</vt:lpstr>
      <vt:lpstr>Distributed Systems</vt:lpstr>
      <vt:lpstr>Virtual Machines</vt:lpstr>
      <vt:lpstr>Containers</vt:lpstr>
      <vt:lpstr>Cloud Computing</vt:lpstr>
      <vt:lpstr>Development Flow</vt:lpstr>
      <vt:lpstr>Waterfall</vt:lpstr>
      <vt:lpstr>Agile</vt:lpstr>
      <vt:lpstr>Comparison</vt:lpstr>
      <vt:lpstr>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for Software Development</dc:title>
  <dc:subject/>
  <dc:creator/>
  <cp:keywords/>
  <dc:description>generated using python-pptx</dc:description>
  <cp:lastModifiedBy>Sadeed Ashraf - Canadian Business College</cp:lastModifiedBy>
  <cp:revision>8</cp:revision>
  <dcterms:created xsi:type="dcterms:W3CDTF">2013-01-27T09:14:16Z</dcterms:created>
  <dcterms:modified xsi:type="dcterms:W3CDTF">2026-04-29T03:41:54Z</dcterms:modified>
  <cp:category/>
</cp:coreProperties>
</file>